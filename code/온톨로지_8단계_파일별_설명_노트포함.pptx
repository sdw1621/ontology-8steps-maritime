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5445" autoAdjust="0"/>
  </p:normalViewPr>
  <p:slideViewPr>
    <p:cSldViewPr snapToGrid="0" snapToObjects="1">
      <p:cViewPr varScale="1">
        <p:scale>
          <a:sx n="54" d="100"/>
          <a:sy n="54" d="100"/>
        </p:scale>
        <p:origin x="17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78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오늘은 해사 도메인 온톨로지를 8단계 방법론에 따라 실제 코드로 구현한 결과를 보여드립니다.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파일 12개, 방법론 8단계, 역량질문 10개로 구성돼 있고, </a:t>
            </a:r>
            <a:endParaRPr lang="en-US" altLang="ko-KR" dirty="0"/>
          </a:p>
          <a:p>
            <a:r>
              <a:rPr lang="ko-KR" altLang="en-US" dirty="0"/>
              <a:t>『지식그래프』 3장의 방법론을 해사법령·운항 데이터에 적용했습니다.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설계부터 배포까지 전 과정을 파일 단위로 따라가겠습니다.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큰 그림입니다.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12개 파일은 흩어진 예제가 아니라 하나의 파이프라인입니다.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설계에서 역량질문을 정의하고, 구축에서 클래스·속성·인스턴스를 만들고, </a:t>
            </a:r>
            <a:endParaRPr lang="en-US" altLang="ko-KR" dirty="0"/>
          </a:p>
          <a:p>
            <a:r>
              <a:rPr lang="ko-KR" altLang="en-US" dirty="0" err="1"/>
              <a:t>추론·검증에서</a:t>
            </a:r>
            <a:r>
              <a:rPr lang="ko-KR" altLang="en-US" dirty="0"/>
              <a:t> 암묵지를 자동 도출하고, 마지막에 그래프DB와 SPARQL API로 배포합니다.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핵심 메시지는 하나입니다. </a:t>
            </a:r>
            <a:endParaRPr lang="en-US" altLang="ko-KR" dirty="0"/>
          </a:p>
          <a:p>
            <a:r>
              <a:rPr lang="ko-KR" altLang="en-US" dirty="0"/>
              <a:t>온톨로지는 데이터를 저장하는 게 아니라, </a:t>
            </a:r>
            <a:endParaRPr lang="en-US" altLang="ko-KR" dirty="0"/>
          </a:p>
          <a:p>
            <a:r>
              <a:rPr lang="ko-KR" altLang="en-US" dirty="0"/>
              <a:t>규칙을 정의해 두면 입력하지 않은 지식까지 추론 엔진이 만들어낸다는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Ontology Development 101의 8단계를 파일에 그대로 매핑했습니다.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1단계 도메인 이해는 문서 작업이라 대응 파일이 없고, </a:t>
            </a:r>
            <a:endParaRPr lang="en-US" altLang="ko-KR" dirty="0"/>
          </a:p>
          <a:p>
            <a:r>
              <a:rPr lang="ko-KR" altLang="en-US" dirty="0"/>
              <a:t>2단계는 역량질문 파일, </a:t>
            </a:r>
            <a:endParaRPr lang="en-US" altLang="ko-KR" dirty="0"/>
          </a:p>
          <a:p>
            <a:r>
              <a:rPr lang="ko-KR" altLang="en-US" dirty="0"/>
              <a:t>3~6단계는 ttl과 빌드 스크립트, </a:t>
            </a:r>
            <a:endParaRPr lang="en-US" altLang="ko-KR" dirty="0"/>
          </a:p>
          <a:p>
            <a:r>
              <a:rPr lang="ko-KR" altLang="en-US" dirty="0"/>
              <a:t>7단계는 검증 스크립트, </a:t>
            </a:r>
            <a:endParaRPr lang="en-US" altLang="ko-KR" dirty="0"/>
          </a:p>
          <a:p>
            <a:r>
              <a:rPr lang="ko-KR" altLang="en-US" dirty="0"/>
              <a:t>8단계는 배포 관련 파일들입니다.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중 7단계 검증이 이 프로젝트의 하이라이트입니다. </a:t>
            </a:r>
            <a:endParaRPr lang="en-US" altLang="ko-KR" dirty="0"/>
          </a:p>
          <a:p>
            <a:r>
              <a:rPr lang="ko-KR" altLang="en-US" dirty="0"/>
              <a:t>추론 전과 후를 비교해 자동 도출이 실제로 일어나는지 수치로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역량질문은 "이 온톨로지는 이런 질문에 답할 수 있어야 </a:t>
            </a:r>
            <a:r>
              <a:rPr lang="ko-KR" altLang="en-US" dirty="0" err="1"/>
              <a:t>한다"를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미리 SPARQL로 못 박아 두는 설계 기준입니다.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2단계에서 범위를 정하는 근거가 되고, </a:t>
            </a:r>
            <a:endParaRPr lang="en-US" altLang="ko-KR" dirty="0"/>
          </a:p>
          <a:p>
            <a:r>
              <a:rPr lang="ko-KR" altLang="en-US" dirty="0"/>
              <a:t>7단계 검증에서는 이 질문들의 응답 가능 여부가 곧 완전성 평가 지표가 됩니다.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CQ1, CQ2는 명시된 사실만으로 답이 나오지만, </a:t>
            </a:r>
            <a:endParaRPr lang="en-US" altLang="ko-KR" dirty="0"/>
          </a:p>
          <a:p>
            <a:r>
              <a:rPr lang="ko-KR" altLang="en-US" dirty="0"/>
              <a:t>CQ3부터 CQ7과 CQ10은 추론 후에만 완전한 답이 나옵니다.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차이가 뒤에서 검증의 핵심 근거가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손으로 작성한 OWL2 파일입니다.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위쪽은 TBox, 개념 스키마입니다.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법령은 Act·Decree·Ordinance로, 법령 단위는 조·항·호로 계층화했고, </a:t>
            </a:r>
            <a:endParaRPr lang="en-US" altLang="ko-KR" dirty="0"/>
          </a:p>
          <a:p>
            <a:r>
              <a:rPr lang="ko-KR" altLang="en-US" dirty="0"/>
              <a:t>장소는 선석·항만·해역·국가로 나눴습니다.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4단계에서 클래스와 데이터 속성에 domain/range를 지정하고, </a:t>
            </a:r>
            <a:endParaRPr lang="en-US" altLang="ko-KR" dirty="0"/>
          </a:p>
          <a:p>
            <a:r>
              <a:rPr lang="ko-KR" altLang="en-US" dirty="0"/>
              <a:t>5단계에서 객체 속성에 이행·역·대칭·함수 같은 논리 특성을 부여하고, </a:t>
            </a:r>
            <a:endParaRPr lang="en-US" altLang="ko-KR" dirty="0"/>
          </a:p>
          <a:p>
            <a:r>
              <a:rPr lang="ko-KR" altLang="en-US" dirty="0"/>
              <a:t>6단계에서 실제 인스턴스를 넣습니다.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TBox는</a:t>
            </a:r>
            <a:r>
              <a:rPr lang="ko-KR" altLang="en-US" dirty="0"/>
              <a:t> 개념, ABox는 개체이며, 규칙과 사실이 하나의 ttl 파일에 함께 담깁니다.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같은 온톨로지를 rdflib로 코드 생성한 버전입니다.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왜 두 번 만드냐고 하실 수 있는데 이유가 셋입니다.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첫째 재현성, 손으로 쓴 것과 코드로 생성한 것이 모두 353 트리플로 동일합니다.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둘째 자동화, add_class 같은 헬퍼로 대량의 클래스와 속성을 반복 없이 만듭니다.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셋째 파이프라인 연결, AIS나 PORT-MIS 같은 실제 해사 데이터를 트리플로 변환하는 통로가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슬라이드가 개념적으로 가장 중요합니다.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이행적</a:t>
            </a:r>
            <a:r>
              <a:rPr lang="ko-KR" altLang="en-US" dirty="0"/>
              <a:t> 속성은 호에서 항, 조, 법령까지 자동 연결하고, </a:t>
            </a:r>
            <a:endParaRPr lang="en-US" altLang="ko-KR" dirty="0"/>
          </a:p>
          <a:p>
            <a:r>
              <a:rPr lang="ko-KR" altLang="en-US" dirty="0"/>
              <a:t>역 속성은 조문에서 기관을 넣으면 기관에서 조문을 도출합니다.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대칭은 인접 관계, 함수적은 기국처럼 값이 하나뿐인 경우, 카디널리티는 여객선의 검사증서 최소 1건 같은 제약입니다.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아래 예를 보시면, 제43조가 제15조를 준용하고 제15조가 제10조를 준용할 때, 준용을 이행적으로 선언해 두면 </a:t>
            </a:r>
            <a:endParaRPr lang="en-US" altLang="ko-KR" dirty="0"/>
          </a:p>
          <a:p>
            <a:r>
              <a:rPr lang="ko-KR" altLang="en-US" dirty="0"/>
              <a:t>제43조에서 제10조까지 연결이 자동 생성됩니다. 이 연결이 없으면 제90조 벌칙이 누락됩니다.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검증 스크립트입니다.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owlrl로</a:t>
            </a:r>
            <a:r>
              <a:rPr lang="ko-KR" altLang="en-US" dirty="0"/>
              <a:t> 추론 폐쇄를 실행하는 한 줄이면 353 트리플이 1,040 트리플로 늘어납니다. </a:t>
            </a:r>
            <a:endParaRPr lang="en-US" altLang="ko-KR" dirty="0"/>
          </a:p>
          <a:p>
            <a:r>
              <a:rPr lang="ko-KR" altLang="en-US" dirty="0"/>
              <a:t>표를 보시면 추론 전에는 CQ3이 제15조제1항까지만 답하지만, 추론 후에는 제15조와 법률까지 나옵니다.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CQ5는 추론 전에 응답이 아예 없다가 제15조를 반환합니다. </a:t>
            </a:r>
            <a:endParaRPr lang="en-US" altLang="ko-KR" dirty="0"/>
          </a:p>
          <a:p>
            <a:r>
              <a:rPr lang="ko-KR" altLang="en-US" dirty="0"/>
              <a:t>CQ10은 제83조만 나오던 것이 제90조까지 나옵니다. </a:t>
            </a:r>
            <a:endParaRPr lang="en-US" altLang="ko-KR" dirty="0"/>
          </a:p>
          <a:p>
            <a:r>
              <a:rPr lang="ko-KR" altLang="en-US" dirty="0"/>
              <a:t>준용을 이행적으로 선언해야 벌칙 경로가 끊기지 않는다는 점이 여기서 실측으로 증명됩니다.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같은 온톨로지를 GUI로도 확인할 수 있습니다.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ttl을</a:t>
            </a:r>
            <a:r>
              <a:rPr lang="ko-KR" altLang="en-US" dirty="0"/>
              <a:t> 열고, 새 선종이나 선박 인스턴스를 추가하고, </a:t>
            </a:r>
            <a:endParaRPr lang="en-US" altLang="ko-KR" dirty="0"/>
          </a:p>
          <a:p>
            <a:r>
              <a:rPr lang="ko-KR" altLang="en-US" dirty="0" err="1"/>
              <a:t>Characteristics</a:t>
            </a:r>
            <a:r>
              <a:rPr lang="ko-KR" altLang="en-US" dirty="0"/>
              <a:t> 패널에서 이행·대칭·함수 체크를 확인한 뒤, HermiT 추론기를 돌립니다.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Protégé에서는</a:t>
            </a:r>
            <a:r>
              <a:rPr lang="ko-KR" altLang="en-US" dirty="0"/>
              <a:t> 추론된 지식이 노란 배경으로 표시되므로, </a:t>
            </a:r>
            <a:endParaRPr lang="en-US" altLang="ko-KR" dirty="0"/>
          </a:p>
          <a:p>
            <a:r>
              <a:rPr lang="ko-KR" altLang="en-US" dirty="0"/>
              <a:t>우리가 입력하지 않은 관계가 어디서 생겼는지 눈으로 구분됩니다.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함께 Gruber의 품질 기준 다섯 가지로 자가점검도 진행했습니다.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배포 첫 번째 경로입니다.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neosemantics</a:t>
            </a:r>
            <a:r>
              <a:rPr lang="ko-KR" altLang="en-US" dirty="0"/>
              <a:t> 플러그인이 있으면 ttl을 그대로 노드와 관계로 적재할 수 있고, </a:t>
            </a:r>
            <a:endParaRPr lang="en-US" altLang="ko-KR" dirty="0"/>
          </a:p>
          <a:p>
            <a:r>
              <a:rPr lang="ko-KR" altLang="en-US" dirty="0"/>
              <a:t>없으면 순수 Cypher로 직접 구성합니다.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주목할 점은 SPARQL의 이행성을 Cypher에서는 가변길이 경로로 표현한다는 것입니다.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표현 방식은 달라도 두 방식 모두 CQ1, CQ3, CQ4, CQ10을 재현하며, 준용은 refType 속성으로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번째 경로는 SPARQL 엔드포인트입니다.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클라이언트가 HTTP로 질의하면 Fuseki 서버가 받고, </a:t>
            </a:r>
            <a:endParaRPr lang="en-US" altLang="ko-KR" dirty="0"/>
          </a:p>
          <a:p>
            <a:r>
              <a:rPr lang="ko-KR" altLang="en-US" dirty="0"/>
              <a:t>설정에서 켜둔 </a:t>
            </a:r>
            <a:r>
              <a:rPr lang="ko-KR" altLang="en-US" dirty="0" err="1"/>
              <a:t>OWLFBRuleReasoner가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 err="1"/>
              <a:t>이행·역·대칭</a:t>
            </a:r>
            <a:r>
              <a:rPr lang="ko-KR" altLang="en-US" dirty="0"/>
              <a:t> 추론을 자동 처리합니다. 장점은 명확합니다.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클라이언트는 추론을 몰라도 됩니다. </a:t>
            </a:r>
            <a:endParaRPr lang="en-US" altLang="ko-KR" dirty="0"/>
          </a:p>
          <a:p>
            <a:r>
              <a:rPr lang="ko-KR" altLang="en-US" dirty="0" err="1"/>
              <a:t>refersTo</a:t>
            </a:r>
            <a:r>
              <a:rPr lang="ko-KR" altLang="en-US" dirty="0"/>
              <a:t> 질의 하나로 서버가 제15조와 제10조를 모두 돌려줍니다. </a:t>
            </a:r>
            <a:endParaRPr lang="en-US" altLang="ko-KR" dirty="0"/>
          </a:p>
          <a:p>
            <a:r>
              <a:rPr lang="ko-KR" altLang="en-US" dirty="0"/>
              <a:t>질의 방법은 웹 UI, 파이썬, curl 세 가지입니다.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실제 질의 코드입니다.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표준 라이브러리 urllib만 사용해 별도 설치가 필요 없습니다. </a:t>
            </a:r>
            <a:endParaRPr lang="en-US" altLang="ko-KR" dirty="0"/>
          </a:p>
          <a:p>
            <a:r>
              <a:rPr lang="ko-KR" altLang="en-US" dirty="0"/>
              <a:t>CQ3, CQ7, CQ10은 클라이언트가 아무 로직 없이 보내도 서버가 추론해서 결과를 돌려줍니다.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대화형 해사 서비스가 지식을 조회하는 방식이 정확히 이 구조이고, </a:t>
            </a:r>
            <a:endParaRPr lang="en-US" altLang="ko-KR" dirty="0"/>
          </a:p>
          <a:p>
            <a:r>
              <a:rPr lang="ko-KR" altLang="en-US" dirty="0"/>
              <a:t>서버가 꺼져 있을 때의 예외 처리까지 포함했습니다.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직접 돌려보실 분들을 위한 3단계입니다.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의존성 설치, 온톨로지 구축, 그리고 추론과 검증. </a:t>
            </a:r>
            <a:endParaRPr lang="en-US" altLang="ko-KR" dirty="0"/>
          </a:p>
          <a:p>
            <a:r>
              <a:rPr lang="ko-KR" altLang="en-US" dirty="0"/>
              <a:t>핵심은 세 번째 명령이고, 여기서 트리플 확장과 역량질문 응답 변화를 바로 확인할 수 있습니다.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윈도우에서 한글이 깨지면 인코딩 환경변수를 설정하고 실행하시면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한 문장으로 정리하면, </a:t>
            </a:r>
            <a:endParaRPr lang="en-US" altLang="ko-KR" dirty="0"/>
          </a:p>
          <a:p>
            <a:r>
              <a:rPr lang="ko-KR" altLang="en-US" dirty="0"/>
              <a:t>규칙을 정의하면 지식은 스스로 자랍니다.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클래스와 인스턴스만 넣어도 속성의 논리 특성을 정의해 두면 추론 엔진이 입력하지 않은 지식까지 도출합니다. </a:t>
            </a:r>
            <a:endParaRPr lang="en-US" altLang="ko-KR" dirty="0"/>
          </a:p>
          <a:p>
            <a:r>
              <a:rPr lang="ko-KR" altLang="en-US" dirty="0"/>
              <a:t>준용 연쇄가 벌칙 경로를 잇는 것이 그 증거입니다.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설계에서 구축, 추론, 검증, 배포까지의 흐름을 12개 파일로 확인하실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 flipV="1">
            <a:off x="8549640" y="960120"/>
            <a:ext cx="1275588" cy="496062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25228" y="960120"/>
            <a:ext cx="1133856" cy="779526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549640" y="1456182"/>
            <a:ext cx="354330" cy="992124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825228" y="960120"/>
            <a:ext cx="354330" cy="1771650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flipV="1">
            <a:off x="10179558" y="1739646"/>
            <a:ext cx="779526" cy="992124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903970" y="2448306"/>
            <a:ext cx="1275588" cy="283464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959084" y="1739646"/>
            <a:ext cx="496062" cy="1133856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179558" y="2731770"/>
            <a:ext cx="1275588" cy="141732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413577" y="1320119"/>
            <a:ext cx="272125" cy="272125"/>
          </a:xfrm>
          <a:prstGeom prst="ellipse">
            <a:avLst/>
          </a:prstGeom>
          <a:solidFill>
            <a:srgbClr val="14B8A6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731685" y="866577"/>
            <a:ext cx="187086" cy="187086"/>
          </a:xfrm>
          <a:prstGeom prst="ellipse">
            <a:avLst/>
          </a:prstGeom>
          <a:solidFill>
            <a:srgbClr val="14B8A6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840029" y="1620591"/>
            <a:ext cx="238110" cy="238110"/>
          </a:xfrm>
          <a:prstGeom prst="ellipse">
            <a:avLst/>
          </a:prstGeom>
          <a:solidFill>
            <a:srgbClr val="14B8A6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009480" y="2561692"/>
            <a:ext cx="340157" cy="340157"/>
          </a:xfrm>
          <a:prstGeom prst="ellipse">
            <a:avLst/>
          </a:prstGeom>
          <a:solidFill>
            <a:srgbClr val="F59E0B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810427" y="2354763"/>
            <a:ext cx="187086" cy="187086"/>
          </a:xfrm>
          <a:prstGeom prst="ellipse">
            <a:avLst/>
          </a:prstGeom>
          <a:solidFill>
            <a:srgbClr val="14B8A6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344595" y="2762951"/>
            <a:ext cx="221102" cy="221102"/>
          </a:xfrm>
          <a:prstGeom prst="ellipse">
            <a:avLst/>
          </a:prstGeom>
          <a:solidFill>
            <a:srgbClr val="14B8A6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66928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KNOWLEDGE GRAPH · ONTOLOGY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19659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해사 온톨로지 8단계 방법론,</a:t>
            </a:r>
            <a:endParaRPr lang="en-US" sz="4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구현하기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566928" y="3977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9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해사법령·운항 도메인 온톨로지를 설계 → 구축 → 추론 → 검증 → 배포까지  ·  파일별 단계 설명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" y="4892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66928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AB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98648" y="4892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2898648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AB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방법론 단계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30368" y="4892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5230368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AB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역량질문(CQ)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6199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8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『지식그래프 : AI와 온톨로지로 여는 지식혁명』 3장 방법론 · 해사 도메인 적용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그림 — 하나의 파이프라인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 파일은 흩어진 예제가 아니라, 설계에서 배포까지 이어지는 하나의 흐름입니다.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691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9224" y="194767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9224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44168" y="19659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9224" y="26243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질문 정의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" y="297180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competency_questions.sparql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08376" y="24688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4C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19272" y="1691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557016" y="1947672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557016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51960" y="19659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557016" y="26243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클래스·속성·인스턴스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57016" y="297180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maritime_ontology.ttl / 01_build_ontology.py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16168" y="24688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4C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7064" y="1691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64808" y="1947672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64808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59752" y="19659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추론·검증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64808" y="26243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암묵지 자동 도출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64808" y="297180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02_validate_and_query.py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24688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4C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34856" y="1691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372600" y="1947672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372600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67544" y="19659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372600" y="26243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그래프DB · SPARQL API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372600" y="297180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03_neo4j · fuseki · 04_client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3977640"/>
            <a:ext cx="11338560" cy="1234440"/>
          </a:xfrm>
          <a:prstGeom prst="roundRect">
            <a:avLst>
              <a:gd name="adj" fmla="val 6667"/>
            </a:avLst>
          </a:prstGeom>
          <a:solidFill>
            <a:srgbClr val="EEF1FA"/>
          </a:solidFill>
          <a:ln w="12700">
            <a:solidFill>
              <a:srgbClr val="D5DC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31520" y="397764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메시지  </a:t>
            </a:r>
            <a:r>
              <a:rPr lang="en-US" sz="150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온톨로지는 '데이터를 저장'하는 것이 아니라, </a:t>
            </a:r>
            <a:r>
              <a:rPr lang="en-US" sz="15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규칙(속성 특성)을 정의해 두면 추론 엔진이 입력하지 않은 지식까지 자동으로 도출</a:t>
            </a:r>
            <a:r>
              <a:rPr lang="en-US" sz="150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한다는 점을 해사 데이터로 증명합니다.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 개발 8단계  ↔  파일 매핑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Ontology Development 101 기반 · 각 단계가 어떤 파일에 대응하는지 한눈에 정리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56616" y="160020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6072" y="18196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76072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1288" y="181965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이해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94360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개념·용어 파악 (설계)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97180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02666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73552" y="160020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493008" y="18196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493008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78224" y="181965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결정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511296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질문(CQ) 정의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11296" y="297180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511296" y="302666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competency_questions.sparql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90488" y="160020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09944" y="18196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9944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181965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 탐색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428232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 목록화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28232" y="297180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28232" y="302666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01_build_ontology.py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07424" y="160020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326880" y="18196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326880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912096" y="181965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클래스·속성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345168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owl:Class, domain/range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345168" y="297180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345168" y="302666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maritime_ontology.ttl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6616" y="397764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76072" y="419709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76072" y="4197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61288" y="41970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 정의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594360" y="48188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이행·역·대칭·함수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94360" y="534924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94360" y="540410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maritime_ontology.ttl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73552" y="397764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493008" y="419709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493008" y="4197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4078224" y="41970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표현·구현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3511296" y="48188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OWL2/Turtle, 인스턴스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3511296" y="534924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511296" y="540410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01_build · Protégé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90488" y="397764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6409944" y="419709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409944" y="4197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995160" y="41970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검증·평가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6428232" y="48188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추론기 · 역량질문 응답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428232" y="534924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6428232" y="540410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02_validate_and_query.py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107424" y="3977640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9326880" y="419709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17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9326880" y="4197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9912096" y="41970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배포·유지보수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9345168" y="48188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트리플스토어 · 그래프DB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9345168" y="5349240"/>
            <a:ext cx="22219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9345168" y="540410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03_neo4j · fuseki · 04_client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" y="6236208"/>
            <a:ext cx="11448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7단계(검증)가 이 프로젝트의 하이라이트 — 추론 전/후를 비교해 자동 도출을 실측합니다.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competency_questions.sparql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질문 — 온톨로지가 답해야 할 질문 목록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질문(Competency Questions)이란?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185416"/>
            <a:ext cx="5806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온톨로지는 이런 질문에 답할 수 있어야 한다”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미리 SPARQL로 못 박아 두는 설계 기준입니다.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단계 2에서 범위를 정하고,  단계 7 검증에서 이 질문들의 응답 가능 여부로 완전성을 평가합니다.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657600"/>
            <a:ext cx="5806440" cy="2148840"/>
          </a:xfrm>
          <a:prstGeom prst="roundRect">
            <a:avLst>
              <a:gd name="adj" fmla="val 3830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41248" y="37947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CQ3~CQ7 · CQ10 은 '추론 후'에만 완전한 답을 반환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4215384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CQ1  부산항에 입항한 선박은?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CQ2  총톤수 5,000 이상 유조선은?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CQ3  제15조제1항제3호의 상위 단위는?  (이행)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CQ4  부산신항 제3선석의 상위 지역은?  (이행)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CQ5  해양수산부가 집행하는 조문은?  (역)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CQ10  제43조 위반 시 적용될 벌칙은?  (준용)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93408" y="1783080"/>
            <a:ext cx="4901184" cy="4023360"/>
          </a:xfrm>
          <a:prstGeom prst="roundRect">
            <a:avLst>
              <a:gd name="adj" fmla="val 1364"/>
            </a:avLst>
          </a:prstGeom>
          <a:solidFill>
            <a:srgbClr val="111A2E"/>
          </a:solidFill>
          <a:ln w="12700">
            <a:solidFill>
              <a:srgbClr val="1B25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94576" y="1929384"/>
            <a:ext cx="453542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 : &lt;…/maritime#&gt;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CQ1  부산항 입항 선박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?name WHERE {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?v :hasPortCall ?pc ; :hasName ?name 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?pc :atPort :BusanPort . }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CQ2  총톤수 5,000+ 유조선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?name ?gt WHERE {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?v :hasVesselType :T_Tanker 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:hasGrossTonnage ?gt 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 (?gt &gt;= 5000) }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CQ3  [추론] 제3호의 상위 단위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?unit WHERE {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:Art15_P1_I3 :isPartOf ?unit . }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4·5·6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maritime_ontology.ttl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 설계 — 클래스·속성·인스턴스 (손으로 작성한 OWL2)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TBox — 개념 스키마 (클래스 계층)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322576"/>
            <a:ext cx="109728" cy="109728"/>
          </a:xfrm>
          <a:prstGeom prst="ellipse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77824" y="219456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42416" y="2724912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61872" y="2596896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Regulation  (법령)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26464" y="3127248"/>
            <a:ext cx="109728" cy="109728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299923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· Decree · Ordinance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42416" y="3529584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61872" y="3401568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LegalUnit  (법령 단위)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26464" y="3931920"/>
            <a:ext cx="109728" cy="109728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645920" y="380390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 · Paragraph · Item  (조·항·호)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42416" y="4334256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61872" y="4206240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 → Berth · Port · SeaArea · Country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42416" y="4736592"/>
            <a:ext cx="109728" cy="109728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61872" y="4608576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Vessel · Position · PortCall · GridCell 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53328" y="1783080"/>
            <a:ext cx="5541264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254496" y="20025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54496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30568" y="1965960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클래스·데이터 속성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30568" y="2350008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hasArticleNo, hasGrossTonnage(decimal), observedAt(dateTime) … domain/range 지정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53328" y="3172968"/>
            <a:ext cx="5541264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254496" y="33924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54496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30568" y="3355848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5  객체 속성 + 논리 특성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30568" y="3739896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junyongOf, enforcedBy, isLocatedIn … 이행·역·대칭·함수·하위·카디널리티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53328" y="4562856"/>
            <a:ext cx="5541264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254496" y="47823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254496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30568" y="4745736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6  인스턴스 (ABox)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30568" y="5129784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제15조, 해양수산부, 부산항, HL PIONEER(화물선) … 실제 개체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598932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TBox = 개념(스키마) · ABox = 개체(데이터).  하나의 .ttl 파일에 규칙과 사실이 함께 담깁니다.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4·5·6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01_build_ontology.py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구축 — rdflib로 같은 온톨로지를 프로그래밍 생성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943600" cy="3977640"/>
          </a:xfrm>
          <a:prstGeom prst="roundRect">
            <a:avLst>
              <a:gd name="adj" fmla="val 1379"/>
            </a:avLst>
          </a:prstGeom>
          <a:solidFill>
            <a:srgbClr val="111A2E"/>
          </a:solidFill>
          <a:ln w="12700">
            <a:solidFill>
              <a:srgbClr val="1B25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68096" y="1929384"/>
            <a:ext cx="55778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rdflib import Graph, Namespace …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= Namespace("…/maritime#")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Graph()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헬퍼로 반복을 제거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add_class(name,label,parent=None): …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add_data_prop(name,label,rng,dom): …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add_obj_prop(…, characteristics): …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add_class("Tanker","유조선","Vessel")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add_obj_prop("junyongOf","준용",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characteristics=[OWL.TransitiveProperty],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super_prop="refersTo")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g.serialize("…_generated.ttl", "turtle")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76288" y="178308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코드로도 만드나?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76288" y="2240280"/>
            <a:ext cx="471830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077456" y="2505456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077456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0" y="2368296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0" y="269748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손·코드 두 방식 모두 353 트리플 — 결과가 동일함을 확인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76288" y="3246120"/>
            <a:ext cx="471830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077456" y="3511296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077456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89520" y="3374136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0" y="370332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add_class / add_*_prop 헬퍼로 대량의 클래스·속성을 반복 없이 생성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76288" y="4251960"/>
            <a:ext cx="471830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077456" y="4517136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077456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89520" y="4379976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 연결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89520" y="470916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AIS·PORT-MIS 등 해사 데이터를 트리플로 변환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76288" y="5257800"/>
            <a:ext cx="4718304" cy="786384"/>
          </a:xfrm>
          <a:prstGeom prst="roundRect">
            <a:avLst>
              <a:gd name="adj" fmla="val 10465"/>
            </a:avLst>
          </a:prstGeom>
          <a:solidFill>
            <a:srgbClr val="EEF1FA"/>
          </a:solidFill>
          <a:ln w="12700">
            <a:solidFill>
              <a:srgbClr val="D5DC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104888" y="5257800"/>
            <a:ext cx="4261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 </a:t>
            </a:r>
            <a:r>
              <a:rPr lang="en-US" sz="12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maritime_ontology_generated.ttl</a:t>
            </a: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353 트리플을 출력하며 저장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— 속성의 5가지 논리적 특성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특성들이 있어야 추론 엔진이 '입력하지 않은 지식'을 자동으로 만들어냅니다.  (단계 5의 핵심)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627632"/>
            <a:ext cx="22128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82880" y="1627632"/>
            <a:ext cx="2212848" cy="457200"/>
          </a:xfrm>
          <a:prstGeom prst="roundRect">
            <a:avLst>
              <a:gd name="adj" fmla="val 18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82880" y="1856232"/>
            <a:ext cx="2212848" cy="2286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7472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이행적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21762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248716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isPartOf · junyongOf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999232"/>
            <a:ext cx="188366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7472" y="30540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호→항→조→법령 이 자동 연결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78608" y="1627632"/>
            <a:ext cx="22128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578608" y="1627632"/>
            <a:ext cx="2212848" cy="45720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578608" y="1856232"/>
            <a:ext cx="2212848" cy="2286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743200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21762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0" y="248716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enforcedBy ↔ enforces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0" y="2999232"/>
            <a:ext cx="188366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43200" y="30540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조문→기관 에서 기관→조문 도출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74336" y="1627632"/>
            <a:ext cx="22128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974336" y="1627632"/>
            <a:ext cx="2212848" cy="457200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974336" y="1856232"/>
            <a:ext cx="2212848" cy="228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138928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38928" y="21762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Symmetric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38928" y="248716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isAdjacentTo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38928" y="2999232"/>
            <a:ext cx="188366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138928" y="30540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부산항↔진해만 자동 성립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70064" y="1627632"/>
            <a:ext cx="22128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370064" y="1627632"/>
            <a:ext cx="2212848" cy="457200"/>
          </a:xfrm>
          <a:prstGeom prst="roundRect">
            <a:avLst>
              <a:gd name="adj" fmla="val 180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370064" y="1856232"/>
            <a:ext cx="2212848" cy="2286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534656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함수적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34656" y="21762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534656" y="248716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hasFlagState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34656" y="2999232"/>
            <a:ext cx="188366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534656" y="30540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최대 1개 (기국은 1개)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765792" y="1627632"/>
            <a:ext cx="22128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9765792" y="1627632"/>
            <a:ext cx="2212848" cy="457200"/>
          </a:xfrm>
          <a:prstGeom prst="roundRect">
            <a:avLst>
              <a:gd name="adj" fmla="val 18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765792" y="1856232"/>
            <a:ext cx="2212848" cy="2286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9930384" y="1627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카디널리티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930384" y="21762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minCardinality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930384" y="248716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여객선 ⊒ hasCertificate≥1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30384" y="2999232"/>
            <a:ext cx="188366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9930384" y="30540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여객선은 검사증서 1건 이상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82880" y="3776472"/>
            <a:ext cx="11795760" cy="1051560"/>
          </a:xfrm>
          <a:prstGeom prst="roundRect">
            <a:avLst>
              <a:gd name="adj" fmla="val 7826"/>
            </a:avLst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57200" y="3776472"/>
            <a:ext cx="11247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입력한 트리플</a:t>
            </a:r>
            <a:r>
              <a:rPr lang="en-US" sz="12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제43조 :junyongOf 제15조   +   제15조 :junyongOf 제10조</a:t>
            </a: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⇒  추론이 자동 생성 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제43조 :junyongOf 제10조</a:t>
            </a:r>
            <a:r>
              <a:rPr lang="en-US" sz="120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이 연결이 없으면 제90조 벌칙이 누락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02_validate_and_query.py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— 추론 전 / 후 비교로 '자동 도출'을 실측 ★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owlrl.DeductiveClosure(owlrl.OWLRL_Semantics).expand(g)</a:t>
            </a: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한 줄로 353 → 1,040 트리플까지 확장됩니다.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27664" cy="502920"/>
          </a:xfrm>
          <a:prstGeom prst="roundRect">
            <a:avLst>
              <a:gd name="adj" fmla="val 9091"/>
            </a:avLst>
          </a:prstGeom>
          <a:solidFill>
            <a:srgbClr val="0F17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질문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33088" y="2103120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전 (명시된 사실만)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0" y="2103120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후 (암묵지 자동 도출)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606040"/>
            <a:ext cx="11027664" cy="749808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95528" y="26060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CQ3  제3호의 상위 단위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이행 isPartOf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33088" y="2606040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제15조제1항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3880" y="2770632"/>
            <a:ext cx="3090672" cy="420624"/>
          </a:xfrm>
          <a:prstGeom prst="roundRect">
            <a:avLst>
              <a:gd name="adj" fmla="val 13043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183880" y="2770632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제15조 · 법률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355848"/>
            <a:ext cx="11027664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95528" y="335584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CQ4  선석 위치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이행 isLocatedIn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33088" y="3355848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부산항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520440"/>
            <a:ext cx="3090672" cy="420624"/>
          </a:xfrm>
          <a:prstGeom prst="roundRect">
            <a:avLst>
              <a:gd name="adj" fmla="val 13043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183880" y="352044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대한민국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105656"/>
            <a:ext cx="11027664" cy="749808"/>
          </a:xfrm>
          <a:prstGeom prst="rect">
            <a:avLst/>
          </a:prstGeom>
          <a:solidFill>
            <a:srgbClr val="EEF2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95528" y="410565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CQ5  해수부 집행 조문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 enforces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33088" y="4105656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(응답 없음)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83880" y="4270248"/>
            <a:ext cx="3090672" cy="420624"/>
          </a:xfrm>
          <a:prstGeom prst="roundRect">
            <a:avLst>
              <a:gd name="adj" fmla="val 13043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183880" y="4270248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제15조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855464"/>
            <a:ext cx="11027664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95528" y="485546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CQ10  제43조 위반 벌칙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이행 junyongOf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33088" y="4855464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제83조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83880" y="5020056"/>
            <a:ext cx="3090672" cy="420624"/>
          </a:xfrm>
          <a:prstGeom prst="roundRect">
            <a:avLst>
              <a:gd name="adj" fmla="val 13043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183880" y="502005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제90조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2606040"/>
            <a:ext cx="0" cy="29992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66928" y="571500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추론 후 CQ3~CQ7 · CQ10 이 새 답을 반환하면 성공.  준용을 이행적으로 선언해야 벌칙 경로가 끊기지 않습니다.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6·7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06_Protege_실습가이드.md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Protégé — GUI로 열고·편집하고·추론 돌리기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7607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49808" y="20391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49808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8448" y="19110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열기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98448" y="224028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▸ Open 으로 .ttl 로드 → 클래스·속성·개체 탭 확인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834640"/>
            <a:ext cx="57607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49808" y="30906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49808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98448" y="29626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98448" y="329184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 subclass / Add individual 로 새 선종·선박 인스턴스 추가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86200"/>
            <a:ext cx="57607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49808" y="41422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9808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01421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특성 확인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98448" y="43434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Object Properties 의 Characteristics 패널에서 Transitive/Symmetric/Functional 체크 확인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937760"/>
            <a:ext cx="57607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49808" y="519379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49808" y="5193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98448" y="50657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실행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98448" y="53949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Reasoner ▸ HermiT 로 시작 → 일관성 검사 + 추론된 관계 표시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93408" y="1783080"/>
            <a:ext cx="4901184" cy="2194560"/>
          </a:xfrm>
          <a:prstGeom prst="roundRect">
            <a:avLst>
              <a:gd name="adj" fmla="val 3750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967728" y="1984248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노란 배경 = 추론된 지식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67728" y="2423160"/>
            <a:ext cx="4352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Art15_P1_I3</a:t>
            </a: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개체를 열면</a:t>
            </a:r>
            <a:r>
              <a:rPr lang="en-US" sz="13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isPartOf MaritimeSafetyAct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자동으로 나타남 (이행성).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MOF</a:t>
            </a: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에는 </a:t>
            </a:r>
            <a:r>
              <a:rPr lang="en-US" sz="13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enforces Art15</a:t>
            </a: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 추론됨 (역 속성).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93408" y="4160520"/>
            <a:ext cx="490118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967728" y="4270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자가점검 (Gruber 원칙)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67728" y="4636008"/>
            <a:ext cx="4352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</a:t>
            </a: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모순 없음  ·  </a:t>
            </a:r>
            <a:r>
              <a:rPr lang="en-US" sz="12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명확성</a:t>
            </a: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준용/참조 구분  ·  </a:t>
            </a:r>
            <a:r>
              <a:rPr lang="en-US" sz="12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완전성</a:t>
            </a: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CQ1~10 응답  ·  </a:t>
            </a:r>
            <a:r>
              <a:rPr lang="en-US" sz="12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확장성</a:t>
            </a: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subclass 테스트  ·  </a:t>
            </a:r>
            <a:r>
              <a:rPr lang="en-US" sz="125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약속</a:t>
            </a:r>
            <a:r>
              <a:rPr lang="en-US" sz="12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과도한 제약 점검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03_deploy_neo4j.cypher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① — 온톨로지를 Neo4j 그래프 DB로 이관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806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194767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 neosemantics(n10s) 로 자동 임포트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n10s.rdf.import.fetch("…maritime_ontology.ttl", "Turtle")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71576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.ttl 을 그대로 노드·관계로 적재 (플러그인 필요)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355848"/>
            <a:ext cx="5806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 순수 Cypher 로 직접 구성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90448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(a15:LegalUnit:Article {…})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(a43)-[:REFERS_TO {refType:"준용"}]-&gt;(a15)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플러그인 없이 스키마·데이터 직접 작성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39128" y="1783080"/>
            <a:ext cx="4855464" cy="2990088"/>
          </a:xfrm>
          <a:prstGeom prst="roundRect">
            <a:avLst>
              <a:gd name="adj" fmla="val 2752"/>
            </a:avLst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013448" y="198424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SPARQL 이행성  ↔  Cypher 가변길이 경로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13448" y="2441448"/>
            <a:ext cx="43068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SPARQL</a:t>
            </a:r>
            <a:r>
              <a:rPr lang="en-US" sz="12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:Art43 :junyongOf ?target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Cypher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(:Article {name:'Art43'})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-[:REFERS_TO</a:t>
            </a:r>
            <a:r>
              <a:rPr lang="en-US" sz="12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*1..</a:t>
            </a:r>
            <a:r>
              <a:rPr lang="en-US" sz="12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]-&gt;(t)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t.articleNo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가변길이 </a:t>
            </a:r>
            <a:r>
              <a:rPr lang="en-US" sz="12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*1..</a:t>
            </a:r>
            <a:r>
              <a:rPr lang="en-US" sz="125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가 이행적 추론을 대신 표현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507492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방식 모두 CQ1·CQ3·CQ4·CQ10 을 Cypher로 재현 — 준용은 refType 속성으로 구분합니다.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fuseki_config.ttl · 05_Fuseki_배포가이드.md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② — SPARQL 엔드포인트 (서버측 추론)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2940" y="192024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62940" y="1920240"/>
            <a:ext cx="3063240" cy="109728"/>
          </a:xfrm>
          <a:prstGeom prst="roundRect">
            <a:avLst>
              <a:gd name="adj" fmla="val 41667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91540" y="21762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1540" y="2670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GET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1540" y="3017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curl · 04_client · 웹UI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26180" y="2423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C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49140" y="192024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49140" y="1920240"/>
            <a:ext cx="3063240" cy="109728"/>
          </a:xfrm>
          <a:prstGeom prst="roundRect">
            <a:avLst>
              <a:gd name="adj" fmla="val 41667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77740" y="21762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Fuseki 서버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77740" y="2670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localhost:3030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7740" y="3017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/maritime/sparql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12380" y="2423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C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435340" y="192024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AA6BF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435340" y="1920240"/>
            <a:ext cx="3063240" cy="109728"/>
          </a:xfrm>
          <a:prstGeom prst="roundRect">
            <a:avLst>
              <a:gd name="adj" fmla="val 4166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663940" y="21762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엔진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63940" y="2670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OWLFBRuleReasoner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63940" y="3017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이행·역·대칭·하위 자동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840480"/>
            <a:ext cx="11027664" cy="1737360"/>
          </a:xfrm>
          <a:prstGeom prst="roundRect">
            <a:avLst>
              <a:gd name="adj" fmla="val 4737"/>
            </a:avLst>
          </a:prstGeom>
          <a:solidFill>
            <a:srgbClr val="EEF1FA"/>
          </a:solidFill>
          <a:ln w="12700">
            <a:solidFill>
              <a:srgbClr val="D5DC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86968" y="4005072"/>
            <a:ext cx="1038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좋은가 — 클라이언트는 추론을 몰라도 된다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86968" y="4389120"/>
            <a:ext cx="10387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 에서 </a:t>
            </a: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OWLFBRuleReasoner</a:t>
            </a:r>
            <a:r>
              <a:rPr lang="en-US" sz="130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를 켜두면, </a:t>
            </a:r>
            <a:r>
              <a:rPr lang="en-US" sz="130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:Art43 :refersTo ?target</a:t>
            </a:r>
            <a:r>
              <a:rPr lang="en-US" sz="130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질의 하나로 서버가 </a:t>
            </a: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제15조 + 제10조</a:t>
            </a:r>
            <a:r>
              <a:rPr lang="en-US" sz="130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을 모두 반환합니다.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실행: </a:t>
            </a: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fuseki-server --config=fuseki_config.ttl</a:t>
            </a: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·   질의 3가지: 웹 UI · Python(04) · curl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67712" y="45720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04_sparql_client.py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③ — 배포된 엔드포인트에 HTTP로 질의하기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943600" cy="3977640"/>
          </a:xfrm>
          <a:prstGeom prst="roundRect">
            <a:avLst>
              <a:gd name="adj" fmla="val 1379"/>
            </a:avLst>
          </a:prstGeom>
          <a:solidFill>
            <a:srgbClr val="111A2E"/>
          </a:solidFill>
          <a:ln w="12700">
            <a:solidFill>
              <a:srgbClr val="1B25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68096" y="1929384"/>
            <a:ext cx="55778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urllib.request, urllib.parse, json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= "http://localhost:3030/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maritime/sparql"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sparql(query):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= ENDPOINT + "?" + urlencode(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{"query": query})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 = Request(url, headers={"Accept":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"application/sparql-results+json"})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json.loads(urlopen(req).read())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표준 라이브러리만 사용 — 설치 불필요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76288" y="178308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76288" y="2240280"/>
            <a:ext cx="4718304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077456" y="2523744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077456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34656" y="2368296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무설치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34656" y="2697480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urllib 표준 라이브러리만 — pip 설치 없이 동작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76288" y="3209544"/>
            <a:ext cx="4718304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077456" y="349300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077456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34656" y="333756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추론 활용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34656" y="3666744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CQ3·CQ7·CQ10 은 서버가 추론해 결과 반환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76288" y="4178808"/>
            <a:ext cx="4718304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077456" y="4462272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077456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34656" y="4306824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연동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34656" y="4636008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대화형 해사서비스가 이렇게 HTTP로 지식을 질의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76288" y="5148072"/>
            <a:ext cx="4718304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077456" y="5431536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077456" y="5431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34656" y="527608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34656" y="560527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미실행 시 친절한 안내 메시지 출력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방법 — 3단계면 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 : rdflib&gt;=7.0 · owlrl&gt;=6.0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2766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95528" y="194767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95528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7048" y="18745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의존성 설치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59168" y="1947672"/>
            <a:ext cx="4306824" cy="54864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242048" y="1947672"/>
            <a:ext cx="3941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944368"/>
            <a:ext cx="1102766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95528" y="32004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95528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27048" y="312724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 구축 (단계 4·5·6)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59168" y="3200400"/>
            <a:ext cx="4306824" cy="54864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242048" y="3200400"/>
            <a:ext cx="3941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01_build_ontology.py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197096"/>
            <a:ext cx="1102766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95528" y="445312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95528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27048" y="437997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+ 검증 (단계 7 · 핵심)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59168" y="4453128"/>
            <a:ext cx="4306824" cy="54864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242048" y="4453128"/>
            <a:ext cx="3941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2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02_validate_and_query.py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5449824"/>
            <a:ext cx="11027664" cy="777240"/>
          </a:xfrm>
          <a:prstGeom prst="roundRect">
            <a:avLst>
              <a:gd name="adj" fmla="val 10588"/>
            </a:avLst>
          </a:prstGeom>
          <a:solidFill>
            <a:srgbClr val="FFF7E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41248" y="5449824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Tip  </a:t>
            </a:r>
            <a:r>
              <a:rPr lang="en-US" sz="135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한글이 깨지면 </a:t>
            </a:r>
            <a:r>
              <a:rPr lang="en-US" sz="1350" b="1" dirty="0">
                <a:solidFill>
                  <a:srgbClr val="0F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PYTHONIOENCODING=utf-8</a:t>
            </a:r>
            <a:r>
              <a:rPr lang="en-US" sz="1350" dirty="0">
                <a:solidFill>
                  <a:srgbClr val="0F17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 실행하세요.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 flipV="1">
            <a:off x="9144000" y="4297680"/>
            <a:ext cx="1110996" cy="432054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254996" y="4297680"/>
            <a:ext cx="987552" cy="678942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0" y="4729734"/>
            <a:ext cx="308610" cy="864108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254996" y="4297680"/>
            <a:ext cx="308610" cy="1543050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flipV="1">
            <a:off x="10563606" y="4976622"/>
            <a:ext cx="678942" cy="864108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452610" y="5593842"/>
            <a:ext cx="1110996" cy="246888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242548" y="4976622"/>
            <a:ext cx="432054" cy="987552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563606" y="5840730"/>
            <a:ext cx="1110996" cy="123444"/>
          </a:xfrm>
          <a:prstGeom prst="line">
            <a:avLst/>
          </a:prstGeom>
          <a:noFill/>
          <a:ln w="1397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025494" y="4611228"/>
            <a:ext cx="237012" cy="237012"/>
          </a:xfrm>
          <a:prstGeom prst="ellipse">
            <a:avLst/>
          </a:prstGeom>
          <a:solidFill>
            <a:srgbClr val="6366F1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173523" y="4216207"/>
            <a:ext cx="162946" cy="162946"/>
          </a:xfrm>
          <a:prstGeom prst="ellipse">
            <a:avLst/>
          </a:prstGeom>
          <a:solidFill>
            <a:srgbClr val="6366F1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138855" y="4872929"/>
            <a:ext cx="207386" cy="207386"/>
          </a:xfrm>
          <a:prstGeom prst="ellipse">
            <a:avLst/>
          </a:prstGeom>
          <a:solidFill>
            <a:srgbClr val="6366F1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415473" y="5692597"/>
            <a:ext cx="296266" cy="296266"/>
          </a:xfrm>
          <a:prstGeom prst="ellipse">
            <a:avLst/>
          </a:prstGeom>
          <a:solidFill>
            <a:srgbClr val="F59E0B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371137" y="5512369"/>
            <a:ext cx="162946" cy="162946"/>
          </a:xfrm>
          <a:prstGeom prst="ellipse">
            <a:avLst/>
          </a:prstGeom>
          <a:solidFill>
            <a:srgbClr val="6366F1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578316" y="5867888"/>
            <a:ext cx="192573" cy="192573"/>
          </a:xfrm>
          <a:prstGeom prst="ellipse">
            <a:avLst/>
          </a:prstGeom>
          <a:solidFill>
            <a:srgbClr val="6366F1"/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66928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 요약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17830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정의하면,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지식은 스스로 자란다.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566928" y="365760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9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클래스와 인스턴스만 넣어도, 속성의 논리 특성(이행·역·대칭·함수)을 정의해 두면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9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엔진이 입력하지 않은 지식까지 도출합니다 — 준용 연쇄가 벌칙 경로를 잇는 것이 그 증거입니다.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" y="5074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설계(CQ)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459736" y="5074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78608" y="5074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구축(.ttl/py)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71416" y="5074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90288" y="5074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추론(owlrl)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83096" y="5074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01968" y="5074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94776" y="5074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13648" y="5074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배포(Neo4j·Fuseki)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8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『지식그래프 : AI와 온톨로지로 여는 지식혁명』 · 온톨로지 8단계 · 해사 도메인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2780</Words>
  <Application>Microsoft Office PowerPoint</Application>
  <PresentationFormat>사용자 지정</PresentationFormat>
  <Paragraphs>444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온톨로지 8단계 방법론 — 해사 도메인 파일별 설명</dc:title>
  <dc:subject>해사 온톨로지 8단계 방법론 실습 코드 설명</dc:subject>
  <dc:creator>PptxGenJS</dc:creator>
  <cp:lastModifiedBy>동욱 신</cp:lastModifiedBy>
  <cp:revision>2</cp:revision>
  <dcterms:created xsi:type="dcterms:W3CDTF">2026-08-02T07:04:11Z</dcterms:created>
  <dcterms:modified xsi:type="dcterms:W3CDTF">2026-08-27T01:14:46Z</dcterms:modified>
</cp:coreProperties>
</file>